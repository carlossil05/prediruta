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0799763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340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192" y="288"/>
      </p:cViewPr>
      <p:guideLst>
        <p:guide orient="horz" pos="162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170707" y="685800"/>
            <a:ext cx="7200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0707" y="685800"/>
            <a:ext cx="7200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8159" y="744575"/>
            <a:ext cx="10063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8150" y="2834125"/>
            <a:ext cx="10063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68150" y="2150850"/>
            <a:ext cx="10063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8150" y="445025"/>
            <a:ext cx="1006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8150" y="1152475"/>
            <a:ext cx="1006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8150" y="445025"/>
            <a:ext cx="1006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8150" y="1152475"/>
            <a:ext cx="472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707559" y="1152475"/>
            <a:ext cx="472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8150" y="445025"/>
            <a:ext cx="1006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8150" y="555600"/>
            <a:ext cx="3316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8150" y="1389600"/>
            <a:ext cx="33165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9035" y="450150"/>
            <a:ext cx="7521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125"/>
            <a:ext cx="5400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3583" y="1233175"/>
            <a:ext cx="47778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3583" y="2803075"/>
            <a:ext cx="4777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834055" y="724075"/>
            <a:ext cx="45318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8150" y="4230575"/>
            <a:ext cx="70851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8150" y="1106125"/>
            <a:ext cx="10063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8150" y="3152225"/>
            <a:ext cx="100638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8150" y="445025"/>
            <a:ext cx="1006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8150" y="1152475"/>
            <a:ext cx="1006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0006840" y="4663217"/>
            <a:ext cx="648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3599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3599" y="189713"/>
            <a:ext cx="1750500" cy="226500"/>
          </a:xfrm>
          <a:prstGeom prst="rect">
            <a:avLst/>
          </a:prstGeom>
          <a:solidFill>
            <a:srgbClr val="351C75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47075" y="479700"/>
            <a:ext cx="1623600" cy="14163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Siniestralidad Bogotá (SDM):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Datos históricos de siniestralidad vial en Bogotá con información como: fecha, hora, ubicación, gravedad y variables complementarias.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47052" y="1950300"/>
            <a:ext cx="1623600" cy="1124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Open meteo: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Clima histórico y pronóstico con variables como precipitación, temperatura, humedad, viento y nubosidad.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47052" y="3146500"/>
            <a:ext cx="1623600" cy="1124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Google routes API: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Construcción de la ruta entre el punto de origen y el destino, geometría del recorrido y steps del proyecto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846814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834101" y="189713"/>
            <a:ext cx="1750500" cy="2265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897579" y="479700"/>
            <a:ext cx="1623600" cy="1124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Siniestralidad Bogotá (SDM):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Carga y descarga de las tablas requeridas: accidente, vía, actor, vehículo, y causa.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897579" y="1676400"/>
            <a:ext cx="1623600" cy="1124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Open meteo: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Consulta del clima histórico para siniestros y momentos de control, y del pronóstico para la ruta futura.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910275" y="2873100"/>
            <a:ext cx="1623600" cy="14163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Google routes API: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Consulta de la ruta base. PrediRuta divide el recorrido en steps y realiza consultas sucesivas por segmento para estimar duración y hora de paso.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3610029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172033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72033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3584650" y="189713"/>
            <a:ext cx="1750500" cy="2265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Transformación/Carga</a:t>
            </a:r>
            <a:endParaRPr sz="13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5373244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5398600" y="189713"/>
            <a:ext cx="1750500" cy="2265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7136460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7149175" y="189713"/>
            <a:ext cx="1750500" cy="226500"/>
          </a:xfrm>
          <a:prstGeom prst="rect">
            <a:avLst/>
          </a:prstGeom>
          <a:solidFill>
            <a:srgbClr val="9900FF"/>
          </a:solidFill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8899675" y="56013"/>
            <a:ext cx="1750500" cy="5025600"/>
          </a:xfrm>
          <a:prstGeom prst="roundRect">
            <a:avLst>
              <a:gd name="adj" fmla="val 76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899675" y="189713"/>
            <a:ext cx="1750500" cy="226500"/>
          </a:xfrm>
          <a:prstGeom prst="rect">
            <a:avLst/>
          </a:prstGeom>
          <a:solidFill>
            <a:srgbClr val="351C75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Lógica del sector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673500" y="479700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Siniestralidad Bogotá (SDM):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tabla Accidente actúa como eje y se integra con las demás tablas. Se depuran nulos e inconsistencias.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3673488" y="2013775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Normalización: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Consolidar variables temporales, validar coordenadas, restringir el análisis a Bogotá y asignar unidades espaciales a cada evento.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3673500" y="3547850"/>
            <a:ext cx="1623600" cy="12939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Dataset final: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E2A33"/>
                </a:solidFill>
                <a:latin typeface="Calibri"/>
                <a:ea typeface="Calibri"/>
                <a:cs typeface="Calibri"/>
                <a:sym typeface="Calibri"/>
              </a:rPr>
              <a:t>Base espaciotemporal que relacione sector, momento, siniestros, controles comparables, severidad, contexto y perfil meteorológico.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5436688" y="479700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Exploración: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Estadísticas descriptivas de los siniestros, patrones espaciales y temporales, criticidad histórica y severidad.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5436675" y="2013775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Indicadores: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 la criticidad espaciotemporal y evaluación del aporte meteorológico sobre la ocurrencia de siniestros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5436700" y="3547850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Modelo predictivo: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Comparación de modelos candidatos con y sin clima para estimar criticidad. El clima se incorpora solo si mejora más del 5% la métrica principal de desempeño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184025" y="520550"/>
            <a:ext cx="1623600" cy="1028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Consulta histórica: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usuario ingresa origen, destino, fecha y hora de salida de la ruta.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7184050" y="1612425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Cálculo por tramo: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consulta la ruta, consulta la hora de paso por cada step usando Google Routes y asigna un nivel relativo de criticidad.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7152300" y="3146500"/>
            <a:ext cx="1623600" cy="14706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Visualización: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con formulario y mapa geográfico que muestra la ruta coloreada, el clima previsto y el nivel de criticidad por cada step generado.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8963100" y="505013"/>
            <a:ext cx="1623600" cy="1028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Audiencia y usuarios: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Conductores de motos y carros en Bogotá D.C. Secretaría de Movilidad.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8963100" y="1622200"/>
            <a:ext cx="1623600" cy="990300"/>
          </a:xfrm>
          <a:prstGeom prst="roundRect">
            <a:avLst>
              <a:gd name="adj" fmla="val 5974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Valor del MVP: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 Integrar criticidad estimada, tiempo de tránsito y clima previsto antes del desplazamiento.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8963100" y="3969800"/>
            <a:ext cx="1623600" cy="1028400"/>
          </a:xfrm>
          <a:prstGeom prst="roundRect">
            <a:avLst>
              <a:gd name="adj" fmla="val 7623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Requerimientos: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72033"/>
                </a:solidFill>
              </a:rPr>
              <a:t>Calidad y cobertura de los datos, funcionalidad, usabilidad, y desempeño analítico.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8963100" y="2673602"/>
            <a:ext cx="1623600" cy="1235100"/>
          </a:xfrm>
          <a:prstGeom prst="roundRect">
            <a:avLst>
              <a:gd name="adj" fmla="val 5974"/>
            </a:avLst>
          </a:prstGeom>
          <a:noFill/>
          <a:ln w="19050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latin typeface="Calibri"/>
                <a:ea typeface="Calibri"/>
                <a:cs typeface="Calibri"/>
                <a:sym typeface="Calibri"/>
              </a:rPr>
              <a:t>Alcance: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 El artefacto muestra un nivel relativo de criticidad. No recomienda rutas alternas ni emite instrucciones de conducción.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75F0B5-7260-3190-8A2D-2BBE199E9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69" y="64394"/>
            <a:ext cx="8047557" cy="480686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F41D115-2878-7841-5662-A43F764ED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52" y="2871816"/>
            <a:ext cx="2538674" cy="13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6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8940F6-4129-DA0A-2363-94D2A70D9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86" y="337840"/>
            <a:ext cx="8277629" cy="455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385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Macintosh PowerPoint</Application>
  <PresentationFormat>Personalizado</PresentationFormat>
  <Paragraphs>34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Simple Light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Helver Leonardo Guzman Olaya</cp:lastModifiedBy>
  <cp:revision>1</cp:revision>
  <dcterms:modified xsi:type="dcterms:W3CDTF">2026-08-16T17:13:54Z</dcterms:modified>
</cp:coreProperties>
</file>